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98A68E-5861-4BD7-A34E-835714D8F01D}" v="5" dt="2025-09-22T07:36:45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NSHU   SINGH" userId="31858ee7-11e6-480f-8a57-62eb6552148a" providerId="ADAL" clId="{A698A68E-5861-4BD7-A34E-835714D8F01D}"/>
    <pc:docChg chg="undo custSel modSld">
      <pc:chgData name="DIVYANSHU   SINGH" userId="31858ee7-11e6-480f-8a57-62eb6552148a" providerId="ADAL" clId="{A698A68E-5861-4BD7-A34E-835714D8F01D}" dt="2025-09-22T07:38:24.447" v="157" actId="20577"/>
      <pc:docMkLst>
        <pc:docMk/>
      </pc:docMkLst>
      <pc:sldChg chg="modSp mod modTransition">
        <pc:chgData name="DIVYANSHU   SINGH" userId="31858ee7-11e6-480f-8a57-62eb6552148a" providerId="ADAL" clId="{A698A68E-5861-4BD7-A34E-835714D8F01D}" dt="2025-09-22T07:38:24.447" v="157" actId="20577"/>
        <pc:sldMkLst>
          <pc:docMk/>
          <pc:sldMk cId="0" sldId="256"/>
        </pc:sldMkLst>
        <pc:spChg chg="mod">
          <ac:chgData name="DIVYANSHU   SINGH" userId="31858ee7-11e6-480f-8a57-62eb6552148a" providerId="ADAL" clId="{A698A68E-5861-4BD7-A34E-835714D8F01D}" dt="2025-09-22T07:38:24.447" v="157" actId="20577"/>
          <ac:spMkLst>
            <pc:docMk/>
            <pc:sldMk cId="0" sldId="256"/>
            <ac:spMk id="2" creationId="{00000000-0000-0000-0000-000000000000}"/>
          </ac:spMkLst>
        </pc:spChg>
      </pc:sldChg>
      <pc:sldChg chg="modTransition">
        <pc:chgData name="DIVYANSHU   SINGH" userId="31858ee7-11e6-480f-8a57-62eb6552148a" providerId="ADAL" clId="{A698A68E-5861-4BD7-A34E-835714D8F01D}" dt="2025-09-22T07:36:45.812" v="153"/>
        <pc:sldMkLst>
          <pc:docMk/>
          <pc:sldMk cId="0" sldId="257"/>
        </pc:sldMkLst>
      </pc:sldChg>
      <pc:sldChg chg="modTransition">
        <pc:chgData name="DIVYANSHU   SINGH" userId="31858ee7-11e6-480f-8a57-62eb6552148a" providerId="ADAL" clId="{A698A68E-5861-4BD7-A34E-835714D8F01D}" dt="2025-09-22T07:36:45.812" v="153"/>
        <pc:sldMkLst>
          <pc:docMk/>
          <pc:sldMk cId="0" sldId="258"/>
        </pc:sldMkLst>
      </pc:sldChg>
      <pc:sldChg chg="modTransition">
        <pc:chgData name="DIVYANSHU   SINGH" userId="31858ee7-11e6-480f-8a57-62eb6552148a" providerId="ADAL" clId="{A698A68E-5861-4BD7-A34E-835714D8F01D}" dt="2025-09-22T07:36:45.812" v="153"/>
        <pc:sldMkLst>
          <pc:docMk/>
          <pc:sldMk cId="0" sldId="259"/>
        </pc:sldMkLst>
      </pc:sldChg>
      <pc:sldChg chg="modTransition">
        <pc:chgData name="DIVYANSHU   SINGH" userId="31858ee7-11e6-480f-8a57-62eb6552148a" providerId="ADAL" clId="{A698A68E-5861-4BD7-A34E-835714D8F01D}" dt="2025-09-22T07:36:45.812" v="153"/>
        <pc:sldMkLst>
          <pc:docMk/>
          <pc:sldMk cId="0" sldId="260"/>
        </pc:sldMkLst>
      </pc:sldChg>
      <pc:sldChg chg="modTransition">
        <pc:chgData name="DIVYANSHU   SINGH" userId="31858ee7-11e6-480f-8a57-62eb6552148a" providerId="ADAL" clId="{A698A68E-5861-4BD7-A34E-835714D8F01D}" dt="2025-09-22T07:36:45.812" v="153"/>
        <pc:sldMkLst>
          <pc:docMk/>
          <pc:sldMk cId="0" sldId="261"/>
        </pc:sldMkLst>
      </pc:sldChg>
      <pc:sldChg chg="modTransition">
        <pc:chgData name="DIVYANSHU   SINGH" userId="31858ee7-11e6-480f-8a57-62eb6552148a" providerId="ADAL" clId="{A698A68E-5861-4BD7-A34E-835714D8F01D}" dt="2025-09-22T07:36:45.812" v="153"/>
        <pc:sldMkLst>
          <pc:docMk/>
          <pc:sldMk cId="0" sldId="262"/>
        </pc:sldMkLst>
      </pc:sldChg>
      <pc:sldChg chg="modTransition">
        <pc:chgData name="DIVYANSHU   SINGH" userId="31858ee7-11e6-480f-8a57-62eb6552148a" providerId="ADAL" clId="{A698A68E-5861-4BD7-A34E-835714D8F01D}" dt="2025-09-22T07:36:45.812" v="153"/>
        <pc:sldMkLst>
          <pc:docMk/>
          <pc:sldMk cId="0" sldId="263"/>
        </pc:sldMkLst>
      </pc:sldChg>
      <pc:sldChg chg="modTransition">
        <pc:chgData name="DIVYANSHU   SINGH" userId="31858ee7-11e6-480f-8a57-62eb6552148a" providerId="ADAL" clId="{A698A68E-5861-4BD7-A34E-835714D8F01D}" dt="2025-09-22T07:36:45.812" v="153"/>
        <pc:sldMkLst>
          <pc:docMk/>
          <pc:sldMk cId="0" sldId="264"/>
        </pc:sldMkLst>
      </pc:sldChg>
      <pc:sldChg chg="modTransition">
        <pc:chgData name="DIVYANSHU   SINGH" userId="31858ee7-11e6-480f-8a57-62eb6552148a" providerId="ADAL" clId="{A698A68E-5861-4BD7-A34E-835714D8F01D}" dt="2025-09-22T07:36:45.812" v="153"/>
        <pc:sldMkLst>
          <pc:docMk/>
          <pc:sldMk cId="0" sldId="265"/>
        </pc:sldMkLst>
      </pc:sldChg>
      <pc:sldChg chg="modTransition">
        <pc:chgData name="DIVYANSHU   SINGH" userId="31858ee7-11e6-480f-8a57-62eb6552148a" providerId="ADAL" clId="{A698A68E-5861-4BD7-A34E-835714D8F01D}" dt="2025-09-22T07:36:45.812" v="153"/>
        <pc:sldMkLst>
          <pc:docMk/>
          <pc:sldMk cId="0" sldId="266"/>
        </pc:sldMkLst>
      </pc:sldChg>
      <pc:sldChg chg="modSp mod modTransition">
        <pc:chgData name="DIVYANSHU   SINGH" userId="31858ee7-11e6-480f-8a57-62eb6552148a" providerId="ADAL" clId="{A698A68E-5861-4BD7-A34E-835714D8F01D}" dt="2025-09-22T07:36:45.812" v="153"/>
        <pc:sldMkLst>
          <pc:docMk/>
          <pc:sldMk cId="0" sldId="267"/>
        </pc:sldMkLst>
        <pc:spChg chg="mod">
          <ac:chgData name="DIVYANSHU   SINGH" userId="31858ee7-11e6-480f-8a57-62eb6552148a" providerId="ADAL" clId="{A698A68E-5861-4BD7-A34E-835714D8F01D}" dt="2025-09-22T07:33:24.229" v="92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DIVYANSHU   SINGH" userId="31858ee7-11e6-480f-8a57-62eb6552148a" providerId="ADAL" clId="{A698A68E-5861-4BD7-A34E-835714D8F01D}" dt="2025-09-22T07:35:55.677" v="148" actId="313"/>
          <ac:spMkLst>
            <pc:docMk/>
            <pc:sldMk cId="0" sldId="267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642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ompiler-design/introduction-of-assembler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youtu.be/0MA1nnj5vxo?si=M4hgLREybJTZpRY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93846"/>
            <a:ext cx="130428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Assemblers: Bridging Assembly Language and Machine Code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1089422" y="5468660"/>
            <a:ext cx="1245155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Core of Software-Hardware Interaction</a:t>
            </a:r>
            <a:endParaRPr lang="en-US" sz="3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2356"/>
            <a:ext cx="656010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is an Assembler?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77296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assembler translates symbolic assembly language mnemonics directly into executable machine code. This is a fundamental process because central processing units operate solely on binary instructions.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980730"/>
            <a:ext cx="55390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Lexical &amp; Syntactic Translation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561874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Assemblers convert assembly language into machine code, typically with a one-to-one instruction mapping. They also handle pseudo-operations and output an </a:t>
            </a: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 file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linking.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40298"/>
            <a:ext cx="52783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System Software Foundation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821442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Assemblers are foundational system software for operating systems, device drivers, and embedded systems. Their direct hardware interface allows for precise control and optimization.</a:t>
            </a: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3009067"/>
            <a:ext cx="6244709" cy="26928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19751" y="5191240"/>
            <a:ext cx="1416701" cy="17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CPU Execution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19751" y="4567892"/>
            <a:ext cx="1416701" cy="17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Machine Code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019751" y="3950841"/>
            <a:ext cx="1991251" cy="177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Assembler Processing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019751" y="3327492"/>
            <a:ext cx="1917956" cy="17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Assembly Instruction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599521" y="595705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example, </a:t>
            </a:r>
            <a:r>
              <a:rPr lang="en-US" sz="17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MOV AX, 0005h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translates to a specific binary sequence for direct CPU execution.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8346"/>
            <a:ext cx="108593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Assembly Translation Process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70753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304824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Assembly Language Source Code</a:t>
            </a:r>
            <a:endParaRPr lang="en-US" sz="2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170753"/>
            <a:ext cx="4347567" cy="9072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68171" y="4304824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Assembler (Translation Process)</a:t>
            </a:r>
            <a:endParaRPr lang="en-US" sz="2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170753"/>
            <a:ext cx="4347567" cy="9072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15738" y="4304824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Machine Code (Object File)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93790" y="549544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process shows how an assembler converts human-readable assembly language into executable machine code. The resulting object file is then ready for linking and loading into a complete program.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3440"/>
            <a:ext cx="11287363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From Early Computation to Modern Programming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93790" y="1669971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Computing has evolved from rudimentary mechanical devices to sophisticated programming languages, laying the foundation for today's digital world.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119" y="2164318"/>
            <a:ext cx="10434161" cy="47174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85748" y="5863945"/>
            <a:ext cx="3347886" cy="290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High-Level Abstraction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985748" y="6237638"/>
            <a:ext cx="3548148" cy="232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Readable languages and compilers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631" y="5863945"/>
            <a:ext cx="189594" cy="1895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985748" y="4736399"/>
            <a:ext cx="3145199" cy="290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Machine to Assembly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985748" y="5110093"/>
            <a:ext cx="3548148" cy="232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Binary code translated into mnemonics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1631" y="4736399"/>
            <a:ext cx="189594" cy="1895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985748" y="3608854"/>
            <a:ext cx="3548148" cy="581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Electromechanical Systems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2985748" y="4273485"/>
            <a:ext cx="3548148" cy="232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Punch cards and relay machines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1631" y="3608854"/>
            <a:ext cx="189594" cy="1895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985748" y="2481309"/>
            <a:ext cx="3453916" cy="290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Mechanical Calculation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2985748" y="2855002"/>
            <a:ext cx="3548148" cy="232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Gears and hand-cranked calculators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1631" y="2481309"/>
            <a:ext cx="189594" cy="18959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3790" y="7085886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progression highlights the continuous drive towards more abstract, user-friendly, and powerful programming paradigms.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4980"/>
            <a:ext cx="5592366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Assembly Time &amp; Architecture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93790" y="1310997"/>
            <a:ext cx="685323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Assembly Process: From Source to Machine Code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08440"/>
            <a:ext cx="737116" cy="10850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78305" y="1955840"/>
            <a:ext cx="212609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Source Code Input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678305" y="2274570"/>
            <a:ext cx="1215830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assembler starts with a human-readable assembly language file (`.asm`). This file contains symbolic instructions (mnemonics like `MOV`, `ADD`) and directives, forming the program's blueprint.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893457"/>
            <a:ext cx="737116" cy="10850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78305" y="3040856"/>
            <a:ext cx="3000851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Lexical Analysis &amp; Parsing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678305" y="3359587"/>
            <a:ext cx="1215830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Raw text is broken into meaningful units (tokens) during lexical analysis. Parsing then checks the syntactic structure, ensuring conformity to assembly language rules and reporting syntax errors.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978473"/>
            <a:ext cx="737116" cy="108501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78305" y="4125873"/>
            <a:ext cx="288428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Symbol Table Generation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678305" y="4444603"/>
            <a:ext cx="1215830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assembler identifies user-defined symbols (labels, variables) and records them with their memory addresses in a symbol table. This resolves symbolic references and simplifies addressing.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063490"/>
            <a:ext cx="737116" cy="88451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78305" y="5210889"/>
            <a:ext cx="195286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Code Generation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1678305" y="5529620"/>
            <a:ext cx="1215830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Mnemonics are converted into binary operation codes (opcodes), and operands into address or data values. This core step produces raw machine code for the target processor.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948005"/>
            <a:ext cx="737116" cy="108501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678305" y="6095405"/>
            <a:ext cx="209073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Object File Output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1678305" y="6414135"/>
            <a:ext cx="1215830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process concludes with an object file (`.obj`), containing relocatable machine code, relocation information, and metadata. This intermediate file is linked with others to form a complete executable program.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793790" y="7198876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detailed process ensures high-level symbolic instructions are efficiently transformed into low-level binary code, bridging the gap between human logic and machine operations.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620792"/>
            <a:ext cx="12831366" cy="458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Machine Specificity: Architectures and Instruction Sets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90218" y="1372910"/>
            <a:ext cx="13049964" cy="469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Assembly language is directly tied to a CPU's Instruction Set Architecture (ISA). Each architecture defines unique instructions, registers, and memory addressing, fundamentally shaping the assembly code.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085" y="2007513"/>
            <a:ext cx="4126111" cy="25787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3179" y="3235010"/>
            <a:ext cx="1188300" cy="123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x86 (CISC)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61953" y="3235010"/>
            <a:ext cx="1188300" cy="123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ARM (RISC)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927293" y="3235010"/>
            <a:ext cx="775696" cy="123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0218" y="4751308"/>
            <a:ext cx="13049964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means assembly code is architecture-specific and incompatible between different CPU types, requiring dedicated development.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90218" y="5151120"/>
            <a:ext cx="6451640" cy="2460546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05458" y="5166360"/>
            <a:ext cx="6421160" cy="440174"/>
          </a:xfrm>
          <a:prstGeom prst="roundRect">
            <a:avLst>
              <a:gd name="adj" fmla="val 9849"/>
            </a:avLst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905964" y="5245060"/>
            <a:ext cx="220028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52143" y="5753219"/>
            <a:ext cx="1834396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x86 (CISC)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52143" y="6070521"/>
            <a:ext cx="6127790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Variable instruction length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52143" y="6356628"/>
            <a:ext cx="6127790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 addressing modes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52143" y="6642735"/>
            <a:ext cx="6127790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Instructions perform multiple operations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52143" y="6928842"/>
            <a:ext cx="6127790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Microcode for complex instructions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52143" y="7214949"/>
            <a:ext cx="6127790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Dominant in desktop and server markets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388543" y="5151120"/>
            <a:ext cx="6451640" cy="2460546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7403783" y="5166360"/>
            <a:ext cx="6421160" cy="440174"/>
          </a:xfrm>
          <a:prstGeom prst="roundRect">
            <a:avLst>
              <a:gd name="adj" fmla="val 9849"/>
            </a:avLst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10504289" y="5245060"/>
            <a:ext cx="220028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550468" y="5753219"/>
            <a:ext cx="1834396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ARM (RISC)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550468" y="6070521"/>
            <a:ext cx="6127790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Fixed instruction length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550468" y="6356628"/>
            <a:ext cx="6127790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Load/Store architecture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50468" y="6642735"/>
            <a:ext cx="6127790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Simpler, single-cycle instructions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550468" y="6928842"/>
            <a:ext cx="6127790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energy efficiency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550468" y="7214949"/>
            <a:ext cx="6127790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Dominant in mobile and embedded systems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787" y="607933"/>
            <a:ext cx="6450687" cy="359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Assembler Mechanism: Two Passes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773787" y="1272421"/>
            <a:ext cx="5204341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Pass 1: Symbol Definition and Location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73787" y="1685568"/>
            <a:ext cx="6366153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Scans source to define all symbols (labels).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3787" y="1965722"/>
            <a:ext cx="6366153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Builds **symbol table** (symbol -&gt; memory address) using **location counter (LC)**.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3787" y="2245876"/>
            <a:ext cx="6366153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Pseudo-operations like `.WORD` and `.BYTE` allocate storage.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3787" y="2526030"/>
            <a:ext cx="6366153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object code generated; populates symbol table to resolve forward references.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3787" y="2917507"/>
            <a:ext cx="6366153" cy="2284690"/>
          </a:xfrm>
          <a:prstGeom prst="roundRect">
            <a:avLst>
              <a:gd name="adj" fmla="val 264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66643" y="2917507"/>
            <a:ext cx="6380440" cy="2284690"/>
          </a:xfrm>
          <a:prstGeom prst="roundRect">
            <a:avLst>
              <a:gd name="adj" fmla="val 94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0352" y="3025259"/>
            <a:ext cx="6093023" cy="2069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START 1000 LOOP: LDA A      ; Label 'LOOP' defined ADD B JMP NEXT     ; Forward reference to 'NEXT' A: WORD 5 B: BYTE 10 NEXT: SUB C      ; Label 'NEXT' defined C: BYTE 20 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1272421"/>
            <a:ext cx="4536043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Pass 2: Machine Code Generation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498080" y="1918930"/>
            <a:ext cx="6366153" cy="1116330"/>
          </a:xfrm>
          <a:prstGeom prst="roundRect">
            <a:avLst>
              <a:gd name="adj" fmla="val 65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498080" y="1903690"/>
            <a:ext cx="6366153" cy="60960"/>
          </a:xfrm>
          <a:prstGeom prst="roundRect">
            <a:avLst>
              <a:gd name="adj" fmla="val 99014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0465534" y="1703427"/>
            <a:ext cx="431125" cy="431125"/>
          </a:xfrm>
          <a:prstGeom prst="roundRect">
            <a:avLst>
              <a:gd name="adj" fmla="val 212096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4836" y="1811179"/>
            <a:ext cx="172403" cy="21550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657028" y="2278142"/>
            <a:ext cx="2691765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Reference Symbol Table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657028" y="2646402"/>
            <a:ext cx="6048256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Pass 1 symbol table to resolve labels &amp; addresses.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498080" y="3394472"/>
            <a:ext cx="6366153" cy="1116330"/>
          </a:xfrm>
          <a:prstGeom prst="roundRect">
            <a:avLst>
              <a:gd name="adj" fmla="val 65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7498080" y="3379232"/>
            <a:ext cx="6366153" cy="60960"/>
          </a:xfrm>
          <a:prstGeom prst="roundRect">
            <a:avLst>
              <a:gd name="adj" fmla="val 99014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10465534" y="3178969"/>
            <a:ext cx="431125" cy="431125"/>
          </a:xfrm>
          <a:prstGeom prst="roundRect">
            <a:avLst>
              <a:gd name="adj" fmla="val 212096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4836" y="3286720"/>
            <a:ext cx="172403" cy="21550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657028" y="3753683"/>
            <a:ext cx="2157651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Translate Opcodes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657028" y="4121944"/>
            <a:ext cx="6048256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 mnemonics to machine-readable binary opcodes.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498080" y="4870013"/>
            <a:ext cx="6366153" cy="1116330"/>
          </a:xfrm>
          <a:prstGeom prst="roundRect">
            <a:avLst>
              <a:gd name="adj" fmla="val 65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7498080" y="4854773"/>
            <a:ext cx="6366153" cy="60960"/>
          </a:xfrm>
          <a:prstGeom prst="roundRect">
            <a:avLst>
              <a:gd name="adj" fmla="val 99014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10465534" y="4654510"/>
            <a:ext cx="431125" cy="431125"/>
          </a:xfrm>
          <a:prstGeom prst="roundRect">
            <a:avLst>
              <a:gd name="adj" fmla="val 212096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4836" y="4762262"/>
            <a:ext cx="172403" cy="215503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657028" y="5229225"/>
            <a:ext cx="2041088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Resolve Operands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7657028" y="5597485"/>
            <a:ext cx="6048256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Substitute symbolic operands with actual addresses or values.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7498080" y="6345555"/>
            <a:ext cx="6366153" cy="1116330"/>
          </a:xfrm>
          <a:prstGeom prst="roundRect">
            <a:avLst>
              <a:gd name="adj" fmla="val 65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7498080" y="6330315"/>
            <a:ext cx="6366153" cy="60960"/>
          </a:xfrm>
          <a:prstGeom prst="roundRect">
            <a:avLst>
              <a:gd name="adj" fmla="val 99014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7"/>
          <p:cNvSpPr/>
          <p:nvPr/>
        </p:nvSpPr>
        <p:spPr>
          <a:xfrm>
            <a:off x="10465534" y="6130052"/>
            <a:ext cx="431125" cy="431125"/>
          </a:xfrm>
          <a:prstGeom prst="roundRect">
            <a:avLst>
              <a:gd name="adj" fmla="val 212096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4836" y="6237803"/>
            <a:ext cx="172403" cy="215503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657028" y="6704767"/>
            <a:ext cx="2282666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Generate Object File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7657028" y="7073027"/>
            <a:ext cx="6048256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Produce relocatable object file with machine code and relocation info.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5843"/>
            <a:ext cx="1304282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Assembler Pass 2: Instruction Translation and Symbol Resolution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93790" y="2296001"/>
            <a:ext cx="130428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assembler's **Code Generation** or **Relocation Pass** translates assembly instructions into executable machine code. It uses the symbol table from Pass 1 to resolve addresses, handle data segments, and generate relocation information for loading.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80623"/>
            <a:ext cx="4347567" cy="7258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5241" y="3987879"/>
            <a:ext cx="246471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Pass 1 Data Input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75241" y="4380190"/>
            <a:ext cx="3984665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Inputs from Pass 1, such as the symbol table and intermediate code, are foundational.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080623"/>
            <a:ext cx="4347567" cy="7258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22808" y="3987879"/>
            <a:ext cx="330458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Instruction Translation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5322808" y="4380190"/>
            <a:ext cx="3984665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Translates assembly instructions into binary opcodes and operand formats.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080623"/>
            <a:ext cx="4347567" cy="7258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0375" y="3987879"/>
            <a:ext cx="264402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Symbol Resolution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9670375" y="4380190"/>
            <a:ext cx="3984665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Symbolic addresses are resolved using the Pass 1 symbol table.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142190"/>
            <a:ext cx="4347567" cy="72580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75241" y="6049447"/>
            <a:ext cx="396335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Relocation Data Generation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975241" y="6441758"/>
            <a:ext cx="3984665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Generates relocation entries for the linker to adjust addresses.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357" y="5142190"/>
            <a:ext cx="4347567" cy="72580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22808" y="6049447"/>
            <a:ext cx="339506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Segment Handling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5322808" y="6441758"/>
            <a:ext cx="3984665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Processes and allocates memory for both initialized and uninitialized data segments.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8666"/>
            <a:ext cx="13042821" cy="963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Assembler Functionality: The Two-Pass Translation Process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93790" y="2108121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Assemblers translate assembly language into machine code, essential for systems programming and direct hardware interaction.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93790" y="2806779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assembly process typically involves two distinct passes: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77" y="3331964"/>
            <a:ext cx="5343287" cy="14647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74024" y="4308744"/>
            <a:ext cx="3645267" cy="14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 2: Code Generation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674024" y="3659676"/>
            <a:ext cx="3645267" cy="14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 1: Symbol Table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93790" y="5013484"/>
            <a:ext cx="6286262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ensures all symbols are resolved before machine code is produced.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557968" y="2850118"/>
            <a:ext cx="6286262" cy="160936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535108" y="2850118"/>
            <a:ext cx="91440" cy="1609368"/>
          </a:xfrm>
          <a:prstGeom prst="roundRect">
            <a:avLst>
              <a:gd name="adj" fmla="val 88558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842171" y="3065740"/>
            <a:ext cx="517350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Pass 1: Symbol Table Construction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7842171" y="3559731"/>
            <a:ext cx="578643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Scans code to build a </a:t>
            </a:r>
            <a:r>
              <a:rPr lang="en-US" sz="15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symbol table</a:t>
            </a: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(labels and addresses).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842171" y="3935492"/>
            <a:ext cx="578643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machine code generated; resolves forward references.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557968" y="4652248"/>
            <a:ext cx="6286262" cy="2601873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7535108" y="4652248"/>
            <a:ext cx="91440" cy="2601873"/>
          </a:xfrm>
          <a:prstGeom prst="roundRect">
            <a:avLst>
              <a:gd name="adj" fmla="val 88558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842171" y="4867870"/>
            <a:ext cx="550497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Pass 2: Code Generation and Output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7842171" y="5361861"/>
            <a:ext cx="578643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Uses Pass 1's symbol table.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842171" y="5737622"/>
            <a:ext cx="578643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Translates opcodes and resolves all symbolic references to addresses.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842171" y="6421755"/>
            <a:ext cx="578643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Generates final machine code and object file, including relocation info.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813" y="617458"/>
            <a:ext cx="4723209" cy="448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Types of Assemblers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85813" y="1425654"/>
            <a:ext cx="13058775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Assemblers are categorized by the number of passes they make over the source code. This impacts their complexity, efficiency, and ability to handle symbol resolution, especially forward references.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85813" y="2404586"/>
            <a:ext cx="6310312" cy="2014657"/>
          </a:xfrm>
          <a:prstGeom prst="roundRect">
            <a:avLst>
              <a:gd name="adj" fmla="val 5446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62953" y="2404586"/>
            <a:ext cx="91440" cy="2014657"/>
          </a:xfrm>
          <a:prstGeom prst="roundRect">
            <a:avLst>
              <a:gd name="adj" fmla="val 82509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6799" y="2606993"/>
            <a:ext cx="307562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One-Pass Assemblers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56799" y="3067169"/>
            <a:ext cx="5836920" cy="1149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source code in a single scan, generating machine code directly. Challenges in resolving forward references require "backpatching" or strict ordering. Best for simpler architectures and limited forward referencing.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5813" y="4598789"/>
            <a:ext cx="6310312" cy="2813923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62953" y="4598789"/>
            <a:ext cx="91440" cy="2813923"/>
          </a:xfrm>
          <a:prstGeom prst="roundRect">
            <a:avLst>
              <a:gd name="adj" fmla="val 82509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56799" y="4801195"/>
            <a:ext cx="3117652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Two-Pass Assemblers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56799" y="5261372"/>
            <a:ext cx="5836920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Robustly manage forward references, crucial for complex assembly languages. They operate through two stages: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6799" y="5997773"/>
            <a:ext cx="5836920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 1:</a:t>
            </a: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Builds a symbol table (symbol-to-address map) by scanning source code. No machine code is generated.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6799" y="6635472"/>
            <a:ext cx="5836920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 2:</a:t>
            </a: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Uses the symbol table to translate opcodes and resolve all references, generating final machine code and the object file.</a:t>
            </a:r>
            <a:endParaRPr lang="en-US" sz="14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926" y="2404586"/>
            <a:ext cx="5048250" cy="217693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512604" y="4168696"/>
            <a:ext cx="1145286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Two-pass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512604" y="3664770"/>
            <a:ext cx="1145286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Backpatching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512604" y="3165934"/>
            <a:ext cx="1231024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Source→Machine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512604" y="2662008"/>
            <a:ext cx="1145286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One-pass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541895" y="4783574"/>
            <a:ext cx="6310312" cy="86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two-pass approach ensures all symbols are defined before code generation, offering robust support for complex assembly language programming.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541895" y="5807393"/>
            <a:ext cx="6310312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Choice depends on architectural constraints, performance requirements, and the complexity of assembly language features.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2260"/>
            <a:ext cx="65310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TEAM Assemblers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5466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PPT has been a collective effort of the team: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633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Divyanshu Singh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Ashish Rai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6477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Pratyaksh Singh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8992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Parth Dogra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53212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Aman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9743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Tanishq Joshi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431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Credits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Giving Due credit to the sources from where, the information for this PPT was gathered -: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/>
              <a:t>1. Geeks For Geeks --   </a:t>
            </a:r>
            <a:r>
              <a:rPr lang="en-IN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Inter"/>
                <a:hlinkClick r:id="rId3"/>
              </a:rPr>
              <a:t>https://www.geeksforgeeks.org/compiler-design/introduction-of-assembler/</a:t>
            </a:r>
            <a:endParaRPr lang="en-IN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Inter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chemeClr val="tx1">
                  <a:lumMod val="95000"/>
                  <a:lumOff val="5000"/>
                </a:schemeClr>
              </a:solidFill>
              <a:latin typeface="Inter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IN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Int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YouTube Video --  </a:t>
            </a:r>
            <a:r>
              <a:rPr lang="en-IN" sz="1600" b="0" i="0" dirty="0">
                <a:solidFill>
                  <a:srgbClr val="0563C1"/>
                </a:solidFill>
                <a:effectLst/>
                <a:latin typeface="Int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https://youtu.be/0MA1nnj5vxo?si=M4hgLREybJTZpRY6</a:t>
            </a:r>
            <a:endParaRPr lang="en-US" sz="175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Inter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1255</Words>
  <Application>Microsoft Office PowerPoint</Application>
  <PresentationFormat>Custom</PresentationFormat>
  <Paragraphs>142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Unbounded Bold</vt:lpstr>
      <vt:lpstr>Arial</vt:lpstr>
      <vt:lpstr>Consolas</vt:lpstr>
      <vt:lpstr>Inter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DIVYANSHU   SINGH</cp:lastModifiedBy>
  <cp:revision>1</cp:revision>
  <dcterms:created xsi:type="dcterms:W3CDTF">2025-09-22T07:30:43Z</dcterms:created>
  <dcterms:modified xsi:type="dcterms:W3CDTF">2025-09-22T07:38:32Z</dcterms:modified>
</cp:coreProperties>
</file>